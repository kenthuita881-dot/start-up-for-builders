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46168"/>
            <a:ext cx="228600" cy="228600"/>
            <a:chOff x="0" y="0"/>
            <a:chExt cx="3048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28600" y="0"/>
                  </a:lnTo>
                  <a:cubicBezTo>
                    <a:pt x="270637" y="0"/>
                    <a:pt x="304800" y="34163"/>
                    <a:pt x="304800" y="76200"/>
                  </a:cubicBezTo>
                  <a:lnTo>
                    <a:pt x="304800" y="228600"/>
                  </a:lnTo>
                  <a:cubicBezTo>
                    <a:pt x="304800" y="270637"/>
                    <a:pt x="270637" y="304800"/>
                    <a:pt x="228600" y="304800"/>
                  </a:cubicBezTo>
                  <a:lnTo>
                    <a:pt x="76200" y="304800"/>
                  </a:lnTo>
                  <a:cubicBezTo>
                    <a:pt x="34163" y="304800"/>
                    <a:pt x="0" y="270637"/>
                    <a:pt x="0" y="2286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176439"/>
            <a:ext cx="8229600" cy="14288"/>
            <a:chOff x="0" y="0"/>
            <a:chExt cx="109728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43262" y="6583632"/>
            <a:ext cx="14288" cy="457200"/>
            <a:chOff x="0" y="0"/>
            <a:chExt cx="1905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" cy="609600"/>
            </a:xfrm>
            <a:custGeom>
              <a:avLst/>
              <a:gdLst/>
              <a:ahLst/>
              <a:cxnLst/>
              <a:rect r="r" b="b" t="t" l="l"/>
              <a:pathLst>
                <a:path h="609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3886724"/>
            <a:ext cx="10801350" cy="97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b="true" sz="6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EcoFlow Tech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95364"/>
            <a:ext cx="89296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Smart Solar Microgrids for Emerging Markets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450" y="3186636"/>
            <a:ext cx="278606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PLP VENTURES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524101"/>
            <a:ext cx="24824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Presenter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6771751"/>
            <a:ext cx="248245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Alex Morgan, CEO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00450" y="6524101"/>
            <a:ext cx="20145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00450" y="6771751"/>
            <a:ext cx="2014538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246064"/>
            <a:ext cx="5272088" cy="3386138"/>
            <a:chOff x="0" y="0"/>
            <a:chExt cx="7029450" cy="4514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294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70294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6723380" y="0"/>
                  </a:lnTo>
                  <a:cubicBezTo>
                    <a:pt x="6892417" y="0"/>
                    <a:pt x="7029450" y="137033"/>
                    <a:pt x="7029450" y="306070"/>
                  </a:cubicBezTo>
                  <a:lnTo>
                    <a:pt x="7029450" y="4208780"/>
                  </a:lnTo>
                  <a:cubicBezTo>
                    <a:pt x="7029450" y="4377817"/>
                    <a:pt x="6892417" y="4514850"/>
                    <a:pt x="6723380" y="4514850"/>
                  </a:cubicBezTo>
                  <a:lnTo>
                    <a:pt x="306070" y="4514850"/>
                  </a:lnTo>
                  <a:cubicBezTo>
                    <a:pt x="137033" y="4514850"/>
                    <a:pt x="0" y="4377817"/>
                    <a:pt x="0" y="42087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07956" y="4246064"/>
            <a:ext cx="5272088" cy="3386138"/>
            <a:chOff x="0" y="0"/>
            <a:chExt cx="7029450" cy="4514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70294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6723380" y="0"/>
                  </a:lnTo>
                  <a:cubicBezTo>
                    <a:pt x="6892417" y="0"/>
                    <a:pt x="7029450" y="137033"/>
                    <a:pt x="7029450" y="306070"/>
                  </a:cubicBezTo>
                  <a:lnTo>
                    <a:pt x="7029450" y="4208780"/>
                  </a:lnTo>
                  <a:cubicBezTo>
                    <a:pt x="7029450" y="4377817"/>
                    <a:pt x="6892417" y="4514850"/>
                    <a:pt x="6723380" y="4514850"/>
                  </a:cubicBezTo>
                  <a:lnTo>
                    <a:pt x="306070" y="4514850"/>
                  </a:lnTo>
                  <a:cubicBezTo>
                    <a:pt x="137033" y="4514850"/>
                    <a:pt x="0" y="4377817"/>
                    <a:pt x="0" y="42087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08656" y="4246064"/>
            <a:ext cx="5272088" cy="3386138"/>
            <a:chOff x="0" y="0"/>
            <a:chExt cx="7029450" cy="4514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70294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6723380" y="0"/>
                  </a:lnTo>
                  <a:cubicBezTo>
                    <a:pt x="6892417" y="0"/>
                    <a:pt x="7029450" y="137033"/>
                    <a:pt x="7029450" y="306070"/>
                  </a:cubicBezTo>
                  <a:lnTo>
                    <a:pt x="7029450" y="4208780"/>
                  </a:lnTo>
                  <a:cubicBezTo>
                    <a:pt x="7029450" y="4377817"/>
                    <a:pt x="6892417" y="4514850"/>
                    <a:pt x="6723380" y="4514850"/>
                  </a:cubicBezTo>
                  <a:lnTo>
                    <a:pt x="306070" y="4514850"/>
                  </a:lnTo>
                  <a:cubicBezTo>
                    <a:pt x="137033" y="4514850"/>
                    <a:pt x="0" y="4377817"/>
                    <a:pt x="0" y="42087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28738" y="4667545"/>
            <a:ext cx="685800" cy="685800"/>
            <a:chOff x="0" y="0"/>
            <a:chExt cx="914400" cy="914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0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29438" y="4667545"/>
            <a:ext cx="685800" cy="685800"/>
            <a:chOff x="0" y="0"/>
            <a:chExt cx="914400" cy="914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30138" y="4667545"/>
            <a:ext cx="685800" cy="685800"/>
            <a:chOff x="0" y="0"/>
            <a:chExt cx="914400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43050" y="4867570"/>
            <a:ext cx="257175" cy="285750"/>
            <a:chOff x="0" y="0"/>
            <a:chExt cx="3429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50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86612" y="4867570"/>
            <a:ext cx="171450" cy="285750"/>
            <a:chOff x="0" y="0"/>
            <a:chExt cx="22860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28600" cy="381000"/>
            </a:xfrm>
            <a:custGeom>
              <a:avLst/>
              <a:gdLst/>
              <a:ahLst/>
              <a:cxnLst/>
              <a:rect r="r" b="b" t="t" l="l"/>
              <a:pathLst>
                <a:path h="381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17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94444" y="4867570"/>
            <a:ext cx="357188" cy="285750"/>
            <a:chOff x="0" y="0"/>
            <a:chExt cx="47625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96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01 / 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Energy Access Barriers in Emerging Markets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8738" y="5620045"/>
            <a:ext cx="581322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Frequent Outages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8738" y="6058195"/>
            <a:ext cx="4572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Commercial zones face over 12 hours of daily load shedding, halting business growth.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29438" y="5620045"/>
            <a:ext cx="581322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High Diesel Costs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29438" y="6058195"/>
            <a:ext cx="4572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SMEs spend up to 40% of operational budget on expensive generator fuel alternative energy.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0138" y="5620045"/>
            <a:ext cx="575786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Lack of Capital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30138" y="6058195"/>
            <a:ext cx="4572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High upfront costs prevent small businesses from purchasing traditional solar systems outright.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5400" y="4246064"/>
            <a:ext cx="8458200" cy="3100388"/>
            <a:chOff x="0" y="0"/>
            <a:chExt cx="11277600" cy="4133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77600" cy="4133850"/>
            </a:xfrm>
            <a:custGeom>
              <a:avLst/>
              <a:gdLst/>
              <a:ahLst/>
              <a:cxnLst/>
              <a:rect r="r" b="b" t="t" l="l"/>
              <a:pathLst>
                <a:path h="4133850" w="112776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lnTo>
                    <a:pt x="10896600" y="0"/>
                  </a:lnTo>
                  <a:cubicBezTo>
                    <a:pt x="11107039" y="0"/>
                    <a:pt x="11277600" y="170561"/>
                    <a:pt x="11277600" y="381000"/>
                  </a:cubicBezTo>
                  <a:lnTo>
                    <a:pt x="11277600" y="3752850"/>
                  </a:lnTo>
                  <a:cubicBezTo>
                    <a:pt x="11277600" y="3963289"/>
                    <a:pt x="11107039" y="4133850"/>
                    <a:pt x="10896600" y="4133850"/>
                  </a:cubicBezTo>
                  <a:lnTo>
                    <a:pt x="381000" y="4133850"/>
                  </a:lnTo>
                  <a:cubicBezTo>
                    <a:pt x="170561" y="4133850"/>
                    <a:pt x="0" y="3963289"/>
                    <a:pt x="0" y="375285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386168"/>
            <a:ext cx="257175" cy="271462"/>
            <a:chOff x="0" y="0"/>
            <a:chExt cx="342900" cy="3619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271993"/>
            <a:ext cx="257175" cy="271462"/>
            <a:chOff x="0" y="0"/>
            <a:chExt cx="342900" cy="361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157818"/>
            <a:ext cx="257175" cy="271462"/>
            <a:chOff x="0" y="0"/>
            <a:chExt cx="342900" cy="3619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02 /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Pay-As-You-Go Modular Microgrids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3846538"/>
            <a:ext cx="7458075" cy="100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b="true" sz="24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Clean, reliable solar power accessible with zero upfront capital investment.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6900" y="4808039"/>
            <a:ext cx="880110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Core Value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00" y="5231902"/>
            <a:ext cx="88011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60% Cost Reduction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6900" y="6155827"/>
            <a:ext cx="745807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Lower average monthly energy expenses compared to diesel generators.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43025" y="5193278"/>
            <a:ext cx="7029450" cy="657225"/>
            <a:chOff x="0" y="0"/>
            <a:chExt cx="9372600" cy="876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72600" cy="876300"/>
            </a:xfrm>
            <a:custGeom>
              <a:avLst/>
              <a:gdLst/>
              <a:ahLst/>
              <a:cxnLst/>
              <a:rect r="r" b="b" t="t" l="l"/>
              <a:pathLst>
                <a:path h="876300" w="9372600">
                  <a:moveTo>
                    <a:pt x="0" y="0"/>
                  </a:moveTo>
                  <a:lnTo>
                    <a:pt x="9372600" y="0"/>
                  </a:lnTo>
                  <a:lnTo>
                    <a:pt x="93726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05" r="0" b="-1584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3726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33415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Plug-and-Play Hardware:</a:t>
              </a: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Rapid 48-hour installation process.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3025" y="6079103"/>
            <a:ext cx="7029450" cy="657225"/>
            <a:chOff x="0" y="0"/>
            <a:chExt cx="9372600" cy="876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72600" cy="876300"/>
            </a:xfrm>
            <a:custGeom>
              <a:avLst/>
              <a:gdLst/>
              <a:ahLst/>
              <a:cxnLst/>
              <a:rect r="r" b="b" t="t" l="l"/>
              <a:pathLst>
                <a:path h="876300" w="9372600">
                  <a:moveTo>
                    <a:pt x="0" y="0"/>
                  </a:moveTo>
                  <a:lnTo>
                    <a:pt x="9372600" y="0"/>
                  </a:lnTo>
                  <a:lnTo>
                    <a:pt x="93726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05" r="0" b="-1584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3726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33415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IoT Automated Billing:</a:t>
              </a: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Flexible micro-payments via mobile money.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3025" y="6964928"/>
            <a:ext cx="7029450" cy="657225"/>
            <a:chOff x="0" y="0"/>
            <a:chExt cx="9372600" cy="876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72600" cy="876300"/>
            </a:xfrm>
            <a:custGeom>
              <a:avLst/>
              <a:gdLst/>
              <a:ahLst/>
              <a:cxnLst/>
              <a:rect r="r" b="b" t="t" l="l"/>
              <a:pathLst>
                <a:path h="876300" w="9372600">
                  <a:moveTo>
                    <a:pt x="0" y="0"/>
                  </a:moveTo>
                  <a:lnTo>
                    <a:pt x="9372600" y="0"/>
                  </a:lnTo>
                  <a:lnTo>
                    <a:pt x="93726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05" r="0" b="-1584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3726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33415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99.9% Uptime SLA:</a:t>
              </a: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Remote monitoring prevents system downtime.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6360614"/>
            <a:ext cx="16473488" cy="1485900"/>
            <a:chOff x="0" y="0"/>
            <a:chExt cx="21964650" cy="198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64650" cy="1981200"/>
            </a:xfrm>
            <a:custGeom>
              <a:avLst/>
              <a:gdLst/>
              <a:ahLst/>
              <a:cxnLst/>
              <a:rect r="r" b="b" t="t" l="l"/>
              <a:pathLst>
                <a:path h="1981200" w="21964650">
                  <a:moveTo>
                    <a:pt x="0" y="307721"/>
                  </a:moveTo>
                  <a:cubicBezTo>
                    <a:pt x="0" y="137795"/>
                    <a:pt x="137795" y="0"/>
                    <a:pt x="307721" y="0"/>
                  </a:cubicBezTo>
                  <a:lnTo>
                    <a:pt x="21656929" y="0"/>
                  </a:lnTo>
                  <a:cubicBezTo>
                    <a:pt x="21826855" y="0"/>
                    <a:pt x="21964650" y="137795"/>
                    <a:pt x="21964650" y="307721"/>
                  </a:cubicBezTo>
                  <a:lnTo>
                    <a:pt x="21964650" y="1673479"/>
                  </a:lnTo>
                  <a:cubicBezTo>
                    <a:pt x="21964650" y="1843405"/>
                    <a:pt x="21826855" y="1981200"/>
                    <a:pt x="21656929" y="1981200"/>
                  </a:cubicBezTo>
                  <a:lnTo>
                    <a:pt x="307721" y="1981200"/>
                  </a:lnTo>
                  <a:cubicBezTo>
                    <a:pt x="137795" y="1981200"/>
                    <a:pt x="0" y="1843405"/>
                    <a:pt x="0" y="1673479"/>
                  </a:cubicBezTo>
                  <a:close/>
                </a:path>
              </a:pathLst>
            </a:custGeom>
            <a:solidFill>
              <a:srgbClr val="F1F5F9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3746002"/>
            <a:ext cx="5272088" cy="2171700"/>
            <a:chOff x="0" y="0"/>
            <a:chExt cx="7029450" cy="289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2895600"/>
            </a:xfrm>
            <a:custGeom>
              <a:avLst/>
              <a:gdLst/>
              <a:ahLst/>
              <a:cxnLst/>
              <a:rect r="r" b="b" t="t" l="l"/>
              <a:pathLst>
                <a:path h="2895600" w="7029450">
                  <a:moveTo>
                    <a:pt x="0" y="306832"/>
                  </a:moveTo>
                  <a:cubicBezTo>
                    <a:pt x="0" y="137414"/>
                    <a:pt x="137414" y="0"/>
                    <a:pt x="306832" y="0"/>
                  </a:cubicBezTo>
                  <a:lnTo>
                    <a:pt x="6722618" y="0"/>
                  </a:lnTo>
                  <a:cubicBezTo>
                    <a:pt x="6892037" y="0"/>
                    <a:pt x="7029450" y="137414"/>
                    <a:pt x="7029450" y="306832"/>
                  </a:cubicBezTo>
                  <a:lnTo>
                    <a:pt x="7029450" y="2588768"/>
                  </a:lnTo>
                  <a:cubicBezTo>
                    <a:pt x="7029450" y="2758186"/>
                    <a:pt x="6892037" y="2895600"/>
                    <a:pt x="6722618" y="2895600"/>
                  </a:cubicBezTo>
                  <a:lnTo>
                    <a:pt x="306832" y="2895600"/>
                  </a:lnTo>
                  <a:cubicBezTo>
                    <a:pt x="137414" y="2895600"/>
                    <a:pt x="0" y="2758186"/>
                    <a:pt x="0" y="258876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507956" y="3746002"/>
            <a:ext cx="5272088" cy="2171700"/>
            <a:chOff x="0" y="0"/>
            <a:chExt cx="7029450" cy="289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2895600"/>
            </a:xfrm>
            <a:custGeom>
              <a:avLst/>
              <a:gdLst/>
              <a:ahLst/>
              <a:cxnLst/>
              <a:rect r="r" b="b" t="t" l="l"/>
              <a:pathLst>
                <a:path h="2895600" w="7029450">
                  <a:moveTo>
                    <a:pt x="0" y="306832"/>
                  </a:moveTo>
                  <a:cubicBezTo>
                    <a:pt x="0" y="137414"/>
                    <a:pt x="137414" y="0"/>
                    <a:pt x="306832" y="0"/>
                  </a:cubicBezTo>
                  <a:lnTo>
                    <a:pt x="6722618" y="0"/>
                  </a:lnTo>
                  <a:cubicBezTo>
                    <a:pt x="6892037" y="0"/>
                    <a:pt x="7029450" y="137414"/>
                    <a:pt x="7029450" y="306832"/>
                  </a:cubicBezTo>
                  <a:lnTo>
                    <a:pt x="7029450" y="2588768"/>
                  </a:lnTo>
                  <a:cubicBezTo>
                    <a:pt x="7029450" y="2758186"/>
                    <a:pt x="6892037" y="2895600"/>
                    <a:pt x="6722618" y="2895600"/>
                  </a:cubicBezTo>
                  <a:lnTo>
                    <a:pt x="306832" y="2895600"/>
                  </a:lnTo>
                  <a:cubicBezTo>
                    <a:pt x="137414" y="2895600"/>
                    <a:pt x="0" y="2758186"/>
                    <a:pt x="0" y="258876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08656" y="3746002"/>
            <a:ext cx="5272088" cy="2171700"/>
            <a:chOff x="0" y="0"/>
            <a:chExt cx="7029450" cy="2895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450" cy="2895600"/>
            </a:xfrm>
            <a:custGeom>
              <a:avLst/>
              <a:gdLst/>
              <a:ahLst/>
              <a:cxnLst/>
              <a:rect r="r" b="b" t="t" l="l"/>
              <a:pathLst>
                <a:path h="2895600" w="7029450">
                  <a:moveTo>
                    <a:pt x="0" y="306832"/>
                  </a:moveTo>
                  <a:cubicBezTo>
                    <a:pt x="0" y="137414"/>
                    <a:pt x="137414" y="0"/>
                    <a:pt x="306832" y="0"/>
                  </a:cubicBezTo>
                  <a:lnTo>
                    <a:pt x="6722618" y="0"/>
                  </a:lnTo>
                  <a:cubicBezTo>
                    <a:pt x="6892037" y="0"/>
                    <a:pt x="7029450" y="137414"/>
                    <a:pt x="7029450" y="306832"/>
                  </a:cubicBezTo>
                  <a:lnTo>
                    <a:pt x="7029450" y="2588768"/>
                  </a:lnTo>
                  <a:cubicBezTo>
                    <a:pt x="7029450" y="2758186"/>
                    <a:pt x="6892037" y="2895600"/>
                    <a:pt x="6722618" y="2895600"/>
                  </a:cubicBezTo>
                  <a:lnTo>
                    <a:pt x="306832" y="2895600"/>
                  </a:lnTo>
                  <a:cubicBezTo>
                    <a:pt x="137414" y="2895600"/>
                    <a:pt x="0" y="2758186"/>
                    <a:pt x="0" y="258876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173325" y="6889252"/>
            <a:ext cx="1785938" cy="428625"/>
            <a:chOff x="0" y="0"/>
            <a:chExt cx="2381250" cy="57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1250" cy="571500"/>
            </a:xfrm>
            <a:custGeom>
              <a:avLst/>
              <a:gdLst/>
              <a:ahLst/>
              <a:cxnLst/>
              <a:rect r="r" b="b" t="t" l="l"/>
              <a:pathLst>
                <a:path h="571500" w="238125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2095500" y="0"/>
                  </a:lnTo>
                  <a:cubicBezTo>
                    <a:pt x="2253361" y="0"/>
                    <a:pt x="2381250" y="127889"/>
                    <a:pt x="2381250" y="285750"/>
                  </a:cubicBezTo>
                  <a:cubicBezTo>
                    <a:pt x="2381250" y="443611"/>
                    <a:pt x="2253361" y="571500"/>
                    <a:pt x="209550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03 / PRODUCT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Proprietary Hardware &amp; Smart Cloud 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73350" y="6965452"/>
            <a:ext cx="15287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Patented Tech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5097" y="4138908"/>
            <a:ext cx="553640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95%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097" y="5177133"/>
            <a:ext cx="553640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Customer Retention Rate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75797" y="4138908"/>
            <a:ext cx="553640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5 OUT 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5797" y="5177133"/>
            <a:ext cx="553640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Regional Market Share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76497" y="4138908"/>
            <a:ext cx="553640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123M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76497" y="5177133"/>
            <a:ext cx="553640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kWh Clean Energy Delivered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8738" y="6772570"/>
            <a:ext cx="881359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Smart Mesh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8738" y="7158333"/>
            <a:ext cx="839390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Enables adjacent businesses to share surplus solar capacity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81595"/>
            <a:ext cx="7943850" cy="1857375"/>
            <a:chOff x="0" y="0"/>
            <a:chExt cx="10591800" cy="247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91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2171700"/>
                  </a:lnTo>
                  <a:cubicBezTo>
                    <a:pt x="10591800" y="2339975"/>
                    <a:pt x="10455402" y="2476500"/>
                    <a:pt x="10287000" y="2476500"/>
                  </a:cubicBezTo>
                  <a:lnTo>
                    <a:pt x="304800" y="2476500"/>
                  </a:lnTo>
                  <a:cubicBezTo>
                    <a:pt x="136525" y="2476500"/>
                    <a:pt x="0" y="2340102"/>
                    <a:pt x="0" y="21717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867570"/>
            <a:ext cx="7943850" cy="1857375"/>
            <a:chOff x="0" y="0"/>
            <a:chExt cx="10591800" cy="247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91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2171700"/>
                  </a:lnTo>
                  <a:cubicBezTo>
                    <a:pt x="10591800" y="2339975"/>
                    <a:pt x="10455402" y="2476500"/>
                    <a:pt x="10287000" y="2476500"/>
                  </a:cubicBezTo>
                  <a:lnTo>
                    <a:pt x="304800" y="2476500"/>
                  </a:lnTo>
                  <a:cubicBezTo>
                    <a:pt x="136525" y="2476500"/>
                    <a:pt x="0" y="2340102"/>
                    <a:pt x="0" y="21717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953545"/>
            <a:ext cx="7943850" cy="1857375"/>
            <a:chOff x="0" y="0"/>
            <a:chExt cx="10591800" cy="2476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91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2171700"/>
                  </a:lnTo>
                  <a:cubicBezTo>
                    <a:pt x="10591800" y="2339975"/>
                    <a:pt x="10455402" y="2476500"/>
                    <a:pt x="10287000" y="2476500"/>
                  </a:cubicBezTo>
                  <a:lnTo>
                    <a:pt x="304800" y="2476500"/>
                  </a:lnTo>
                  <a:cubicBezTo>
                    <a:pt x="136525" y="2476500"/>
                    <a:pt x="0" y="2340102"/>
                    <a:pt x="0" y="21717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87175" y="4138908"/>
            <a:ext cx="3429000" cy="3429000"/>
            <a:chOff x="0" y="0"/>
            <a:chExt cx="4572000" cy="457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72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lnTo>
                    <a:pt x="3619500" y="0"/>
                  </a:lnTo>
                  <a:cubicBezTo>
                    <a:pt x="4145534" y="0"/>
                    <a:pt x="4572000" y="426466"/>
                    <a:pt x="4572000" y="952500"/>
                  </a:cubicBezTo>
                  <a:lnTo>
                    <a:pt x="4572000" y="3619500"/>
                  </a:lnTo>
                  <a:cubicBezTo>
                    <a:pt x="4572000" y="4145534"/>
                    <a:pt x="4145534" y="4572000"/>
                    <a:pt x="3619500" y="4572000"/>
                  </a:cubicBezTo>
                  <a:lnTo>
                    <a:pt x="952500" y="4572000"/>
                  </a:lnTo>
                  <a:cubicBezTo>
                    <a:pt x="426466" y="4572000"/>
                    <a:pt x="0" y="4145534"/>
                    <a:pt x="0" y="3619500"/>
                  </a:cubicBezTo>
                  <a:close/>
                </a:path>
              </a:pathLst>
            </a:custGeom>
            <a:solidFill>
              <a:srgbClr val="42A0D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4624683"/>
            <a:ext cx="7943850" cy="14288"/>
            <a:chOff x="0" y="0"/>
            <a:chExt cx="105918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91800" cy="19050"/>
            </a:xfrm>
            <a:custGeom>
              <a:avLst/>
              <a:gdLst/>
              <a:ahLst/>
              <a:cxnLst/>
              <a:rect r="r" b="b" t="t" l="l"/>
              <a:pathLst>
                <a:path h="1905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781595"/>
            <a:ext cx="7943850" cy="14288"/>
            <a:chOff x="0" y="0"/>
            <a:chExt cx="10591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91800" cy="19050"/>
            </a:xfrm>
            <a:custGeom>
              <a:avLst/>
              <a:gdLst/>
              <a:ahLst/>
              <a:cxnLst/>
              <a:rect r="r" b="b" t="t" l="l"/>
              <a:pathLst>
                <a:path h="1905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781595"/>
            <a:ext cx="85725" cy="1857375"/>
            <a:chOff x="0" y="0"/>
            <a:chExt cx="114300" cy="247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843962" y="2781595"/>
            <a:ext cx="14288" cy="1857375"/>
            <a:chOff x="0" y="0"/>
            <a:chExt cx="19050" cy="2476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6710658"/>
            <a:ext cx="7943850" cy="14288"/>
            <a:chOff x="0" y="0"/>
            <a:chExt cx="10591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91800" cy="19050"/>
            </a:xfrm>
            <a:custGeom>
              <a:avLst/>
              <a:gdLst/>
              <a:ahLst/>
              <a:cxnLst/>
              <a:rect r="r" b="b" t="t" l="l"/>
              <a:pathLst>
                <a:path h="1905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4867570"/>
            <a:ext cx="7943850" cy="14288"/>
            <a:chOff x="0" y="0"/>
            <a:chExt cx="105918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91800" cy="19050"/>
            </a:xfrm>
            <a:custGeom>
              <a:avLst/>
              <a:gdLst/>
              <a:ahLst/>
              <a:cxnLst/>
              <a:rect r="r" b="b" t="t" l="l"/>
              <a:pathLst>
                <a:path h="1905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4867570"/>
            <a:ext cx="85725" cy="1857375"/>
            <a:chOff x="0" y="0"/>
            <a:chExt cx="114300" cy="2476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43962" y="4867570"/>
            <a:ext cx="14288" cy="1857375"/>
            <a:chOff x="0" y="0"/>
            <a:chExt cx="19050" cy="2476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8796633"/>
            <a:ext cx="7943850" cy="14288"/>
            <a:chOff x="0" y="0"/>
            <a:chExt cx="1059180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91800" cy="19050"/>
            </a:xfrm>
            <a:custGeom>
              <a:avLst/>
              <a:gdLst/>
              <a:ahLst/>
              <a:cxnLst/>
              <a:rect r="r" b="b" t="t" l="l"/>
              <a:pathLst>
                <a:path h="1905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6953545"/>
            <a:ext cx="7943850" cy="14288"/>
            <a:chOff x="0" y="0"/>
            <a:chExt cx="10591800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91800" cy="19050"/>
            </a:xfrm>
            <a:custGeom>
              <a:avLst/>
              <a:gdLst/>
              <a:ahLst/>
              <a:cxnLst/>
              <a:rect r="r" b="b" t="t" l="l"/>
              <a:pathLst>
                <a:path h="1905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6953545"/>
            <a:ext cx="85725" cy="1857375"/>
            <a:chOff x="0" y="0"/>
            <a:chExt cx="114300" cy="2476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3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843962" y="6953545"/>
            <a:ext cx="14288" cy="1857375"/>
            <a:chOff x="0" y="0"/>
            <a:chExt cx="19050" cy="2476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58512" y="7953670"/>
            <a:ext cx="171450" cy="200025"/>
            <a:chOff x="0" y="0"/>
            <a:chExt cx="228600" cy="2667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142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30125" y="7953670"/>
            <a:ext cx="171450" cy="200025"/>
            <a:chOff x="0" y="0"/>
            <a:chExt cx="228600" cy="2667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142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116050" y="7953670"/>
            <a:ext cx="171450" cy="200025"/>
            <a:chOff x="0" y="0"/>
            <a:chExt cx="228600" cy="2667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14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04 / MARKET OPPORTUNITY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Massive Unmet Demand Across Commercial Hubs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476059" y="3405483"/>
            <a:ext cx="985123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Market Breakdown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00175" y="3186408"/>
            <a:ext cx="8804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TAM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0175" y="3434058"/>
            <a:ext cx="92449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$12.5 Billion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00175" y="3957933"/>
            <a:ext cx="8804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Sub-Saharan Off-Grid Commercial Energy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00175" y="5272383"/>
            <a:ext cx="8804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SAM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00175" y="5520033"/>
            <a:ext cx="92449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$3.2 Billion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00175" y="6043908"/>
            <a:ext cx="8804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Urban Commercial SMEs &amp; Trade Hubs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00175" y="7358358"/>
            <a:ext cx="8804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SOM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00175" y="7606008"/>
            <a:ext cx="92449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$450 Million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00175" y="8129883"/>
            <a:ext cx="8804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Initial Target Expansion Market (3 Years)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858500" y="7901283"/>
            <a:ext cx="15573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Retail Hubs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30112" y="7901283"/>
            <a:ext cx="17716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Light Industry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014247" y="7901283"/>
            <a:ext cx="204668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Agri-Processing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95862" y="7253583"/>
            <a:ext cx="228600" cy="228600"/>
            <a:chOff x="0" y="0"/>
            <a:chExt cx="304800" cy="3048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36406" y="7253583"/>
            <a:ext cx="228600" cy="228600"/>
            <a:chOff x="0" y="0"/>
            <a:chExt cx="304800" cy="304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20427" y="7253583"/>
            <a:ext cx="228600" cy="228600"/>
            <a:chOff x="0" y="0"/>
            <a:chExt cx="304800" cy="304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36406" y="7253583"/>
            <a:ext cx="228600" cy="228600"/>
            <a:chOff x="0" y="0"/>
            <a:chExt cx="304800" cy="304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20427" y="7253583"/>
            <a:ext cx="228600" cy="228600"/>
            <a:chOff x="0" y="0"/>
            <a:chExt cx="304800" cy="3048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295862" y="7253583"/>
            <a:ext cx="228600" cy="228600"/>
            <a:chOff x="0" y="0"/>
            <a:chExt cx="3048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914400" y="3853160"/>
          <a:ext cx="16421100" cy="3810000"/>
        </p:xfrm>
        <a:graphic>
          <a:graphicData uri="http://schemas.openxmlformats.org/drawingml/2006/table">
            <a:tbl>
              <a:tblPr/>
              <a:tblGrid>
                <a:gridCol w="4381311"/>
                <a:gridCol w="4272929"/>
                <a:gridCol w="3471787"/>
                <a:gridCol w="4295073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Features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0284C7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EcoFlow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Traditional Solar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Diesel Generators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Upfront Capital Cost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16A34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$0 (Pay-As-You-Go)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C262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($10,000+)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Moderate ($2,000)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Operational Expense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16A34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Low ($0.15/kWh)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Very Low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C262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Extreme ($0.45/kWh)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Deployment Speed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16A34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48 Hours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2–4 Weeks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Immediate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Smart Grid Integration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16A34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Yes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C262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C262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</a:t>
                      </a:r>
                      <a:endParaRPr lang="en-US" sz="1100"/>
                    </a:p>
                  </a:txBody>
                  <a:tcPr marL="78740" marR="78740" marT="78740" marB="7874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05 / COMPETITIVE LANDSCAPE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Why EcoFlow Wins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624683"/>
            <a:ext cx="3123162" cy="2628900"/>
            <a:chOff x="0" y="0"/>
            <a:chExt cx="4164216" cy="350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64203" cy="3505200"/>
            </a:xfrm>
            <a:custGeom>
              <a:avLst/>
              <a:gdLst/>
              <a:ahLst/>
              <a:cxnLst/>
              <a:rect r="r" b="b" t="t" l="l"/>
              <a:pathLst>
                <a:path h="3505200" w="4164203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3857752" y="0"/>
                  </a:lnTo>
                  <a:cubicBezTo>
                    <a:pt x="4027043" y="0"/>
                    <a:pt x="4164203" y="137160"/>
                    <a:pt x="4164203" y="306451"/>
                  </a:cubicBezTo>
                  <a:lnTo>
                    <a:pt x="4164203" y="3198749"/>
                  </a:lnTo>
                  <a:cubicBezTo>
                    <a:pt x="4164203" y="3368040"/>
                    <a:pt x="4027043" y="3505200"/>
                    <a:pt x="3857752" y="3505200"/>
                  </a:cubicBezTo>
                  <a:lnTo>
                    <a:pt x="306451" y="3505200"/>
                  </a:lnTo>
                  <a:cubicBezTo>
                    <a:pt x="137160" y="3505200"/>
                    <a:pt x="0" y="3368040"/>
                    <a:pt x="0" y="31987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244731" y="4624683"/>
            <a:ext cx="3123162" cy="2628900"/>
            <a:chOff x="0" y="0"/>
            <a:chExt cx="4164216" cy="350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64203" cy="3505200"/>
            </a:xfrm>
            <a:custGeom>
              <a:avLst/>
              <a:gdLst/>
              <a:ahLst/>
              <a:cxnLst/>
              <a:rect r="r" b="b" t="t" l="l"/>
              <a:pathLst>
                <a:path h="3505200" w="4164203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3857752" y="0"/>
                  </a:lnTo>
                  <a:cubicBezTo>
                    <a:pt x="4027043" y="0"/>
                    <a:pt x="4164203" y="137160"/>
                    <a:pt x="4164203" y="306451"/>
                  </a:cubicBezTo>
                  <a:lnTo>
                    <a:pt x="4164203" y="3198749"/>
                  </a:lnTo>
                  <a:cubicBezTo>
                    <a:pt x="4164203" y="3368040"/>
                    <a:pt x="4027043" y="3505200"/>
                    <a:pt x="3857752" y="3505200"/>
                  </a:cubicBezTo>
                  <a:lnTo>
                    <a:pt x="306451" y="3505200"/>
                  </a:lnTo>
                  <a:cubicBezTo>
                    <a:pt x="137160" y="3505200"/>
                    <a:pt x="0" y="3368040"/>
                    <a:pt x="0" y="31987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82195" y="4624683"/>
            <a:ext cx="3123162" cy="2628900"/>
            <a:chOff x="0" y="0"/>
            <a:chExt cx="4164216" cy="350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64203" cy="3505200"/>
            </a:xfrm>
            <a:custGeom>
              <a:avLst/>
              <a:gdLst/>
              <a:ahLst/>
              <a:cxnLst/>
              <a:rect r="r" b="b" t="t" l="l"/>
              <a:pathLst>
                <a:path h="3505200" w="4164203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3857752" y="0"/>
                  </a:lnTo>
                  <a:cubicBezTo>
                    <a:pt x="4027043" y="0"/>
                    <a:pt x="4164203" y="137160"/>
                    <a:pt x="4164203" y="306451"/>
                  </a:cubicBezTo>
                  <a:lnTo>
                    <a:pt x="4164203" y="3198749"/>
                  </a:lnTo>
                  <a:cubicBezTo>
                    <a:pt x="4164203" y="3368040"/>
                    <a:pt x="4027043" y="3505200"/>
                    <a:pt x="3857752" y="3505200"/>
                  </a:cubicBezTo>
                  <a:lnTo>
                    <a:pt x="306451" y="3505200"/>
                  </a:lnTo>
                  <a:cubicBezTo>
                    <a:pt x="137160" y="3505200"/>
                    <a:pt x="0" y="3368040"/>
                    <a:pt x="0" y="31987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19670" y="4624683"/>
            <a:ext cx="3123162" cy="2628900"/>
            <a:chOff x="0" y="0"/>
            <a:chExt cx="4164216" cy="350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64203" cy="3505200"/>
            </a:xfrm>
            <a:custGeom>
              <a:avLst/>
              <a:gdLst/>
              <a:ahLst/>
              <a:cxnLst/>
              <a:rect r="r" b="b" t="t" l="l"/>
              <a:pathLst>
                <a:path h="3505200" w="4164203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3857752" y="0"/>
                  </a:lnTo>
                  <a:cubicBezTo>
                    <a:pt x="4027043" y="0"/>
                    <a:pt x="4164203" y="137160"/>
                    <a:pt x="4164203" y="306451"/>
                  </a:cubicBezTo>
                  <a:lnTo>
                    <a:pt x="4164203" y="3198749"/>
                  </a:lnTo>
                  <a:cubicBezTo>
                    <a:pt x="4164203" y="3368040"/>
                    <a:pt x="4027043" y="3505200"/>
                    <a:pt x="3857752" y="3505200"/>
                  </a:cubicBezTo>
                  <a:lnTo>
                    <a:pt x="306451" y="3505200"/>
                  </a:lnTo>
                  <a:cubicBezTo>
                    <a:pt x="137160" y="3505200"/>
                    <a:pt x="0" y="3368040"/>
                    <a:pt x="0" y="31987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257134" y="4624683"/>
            <a:ext cx="3123162" cy="2628900"/>
            <a:chOff x="0" y="0"/>
            <a:chExt cx="4164216" cy="3505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64203" cy="3505200"/>
            </a:xfrm>
            <a:custGeom>
              <a:avLst/>
              <a:gdLst/>
              <a:ahLst/>
              <a:cxnLst/>
              <a:rect r="r" b="b" t="t" l="l"/>
              <a:pathLst>
                <a:path h="3505200" w="4164203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3857752" y="0"/>
                  </a:lnTo>
                  <a:cubicBezTo>
                    <a:pt x="4027043" y="0"/>
                    <a:pt x="4164203" y="137160"/>
                    <a:pt x="4164203" y="306451"/>
                  </a:cubicBezTo>
                  <a:lnTo>
                    <a:pt x="4164203" y="3198749"/>
                  </a:lnTo>
                  <a:cubicBezTo>
                    <a:pt x="4164203" y="3368040"/>
                    <a:pt x="4027043" y="3505200"/>
                    <a:pt x="3857752" y="3505200"/>
                  </a:cubicBezTo>
                  <a:lnTo>
                    <a:pt x="306451" y="3505200"/>
                  </a:lnTo>
                  <a:cubicBezTo>
                    <a:pt x="137160" y="3505200"/>
                    <a:pt x="0" y="3368040"/>
                    <a:pt x="0" y="31987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28738" y="5046164"/>
            <a:ext cx="1114425" cy="428625"/>
            <a:chOff x="0" y="0"/>
            <a:chExt cx="1485900" cy="57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5900" cy="571500"/>
            </a:xfrm>
            <a:custGeom>
              <a:avLst/>
              <a:gdLst/>
              <a:ahLst/>
              <a:cxnLst/>
              <a:rect r="r" b="b" t="t" l="l"/>
              <a:pathLst>
                <a:path h="571500" w="14859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200150" y="0"/>
                  </a:lnTo>
                  <a:cubicBezTo>
                    <a:pt x="1358011" y="0"/>
                    <a:pt x="1485900" y="127889"/>
                    <a:pt x="1485900" y="285750"/>
                  </a:cubicBezTo>
                  <a:cubicBezTo>
                    <a:pt x="1485900" y="443611"/>
                    <a:pt x="1358011" y="571500"/>
                    <a:pt x="12001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66212" y="5046164"/>
            <a:ext cx="1157288" cy="428625"/>
            <a:chOff x="0" y="0"/>
            <a:chExt cx="1543050" cy="571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050" cy="571500"/>
            </a:xfrm>
            <a:custGeom>
              <a:avLst/>
              <a:gdLst/>
              <a:ahLst/>
              <a:cxnLst/>
              <a:rect r="r" b="b" t="t" l="l"/>
              <a:pathLst>
                <a:path h="571500" w="154305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257300" y="0"/>
                  </a:lnTo>
                  <a:cubicBezTo>
                    <a:pt x="1415161" y="0"/>
                    <a:pt x="1543050" y="127889"/>
                    <a:pt x="1543050" y="285750"/>
                  </a:cubicBezTo>
                  <a:cubicBezTo>
                    <a:pt x="1543050" y="443611"/>
                    <a:pt x="1415161" y="571500"/>
                    <a:pt x="125730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03677" y="5046164"/>
            <a:ext cx="1171575" cy="428625"/>
            <a:chOff x="0" y="0"/>
            <a:chExt cx="1562100" cy="57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62100" cy="571500"/>
            </a:xfrm>
            <a:custGeom>
              <a:avLst/>
              <a:gdLst/>
              <a:ahLst/>
              <a:cxnLst/>
              <a:rect r="r" b="b" t="t" l="l"/>
              <a:pathLst>
                <a:path h="571500" w="15621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276350" y="0"/>
                  </a:lnTo>
                  <a:cubicBezTo>
                    <a:pt x="1434211" y="0"/>
                    <a:pt x="1562100" y="127889"/>
                    <a:pt x="1562100" y="285750"/>
                  </a:cubicBezTo>
                  <a:cubicBezTo>
                    <a:pt x="1562100" y="443611"/>
                    <a:pt x="1434211" y="571500"/>
                    <a:pt x="12763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41151" y="5046164"/>
            <a:ext cx="1171575" cy="428625"/>
            <a:chOff x="0" y="0"/>
            <a:chExt cx="15621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2100" cy="571500"/>
            </a:xfrm>
            <a:custGeom>
              <a:avLst/>
              <a:gdLst/>
              <a:ahLst/>
              <a:cxnLst/>
              <a:rect r="r" b="b" t="t" l="l"/>
              <a:pathLst>
                <a:path h="571500" w="15621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276350" y="0"/>
                  </a:lnTo>
                  <a:cubicBezTo>
                    <a:pt x="1434211" y="0"/>
                    <a:pt x="1562100" y="127889"/>
                    <a:pt x="1562100" y="285750"/>
                  </a:cubicBezTo>
                  <a:cubicBezTo>
                    <a:pt x="1562100" y="443611"/>
                    <a:pt x="1434211" y="571500"/>
                    <a:pt x="12763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678616" y="5046164"/>
            <a:ext cx="1171575" cy="428625"/>
            <a:chOff x="0" y="0"/>
            <a:chExt cx="1562100" cy="571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62100" cy="571500"/>
            </a:xfrm>
            <a:custGeom>
              <a:avLst/>
              <a:gdLst/>
              <a:ahLst/>
              <a:cxnLst/>
              <a:rect r="r" b="b" t="t" l="l"/>
              <a:pathLst>
                <a:path h="571500" w="15621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276350" y="0"/>
                  </a:lnTo>
                  <a:cubicBezTo>
                    <a:pt x="1434211" y="0"/>
                    <a:pt x="1562100" y="127889"/>
                    <a:pt x="1562100" y="285750"/>
                  </a:cubicBezTo>
                  <a:cubicBezTo>
                    <a:pt x="1562100" y="443611"/>
                    <a:pt x="1434211" y="571500"/>
                    <a:pt x="12763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06 / TRACTION &amp; ROADMAP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5-Month Execution Milestones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8762" y="5122364"/>
            <a:ext cx="857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Month 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8738" y="5627189"/>
            <a:ext cx="299275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Pilot Launch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8738" y="6051052"/>
            <a:ext cx="242307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Deploy 10 microgrids in primary commercial market.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66237" y="5122364"/>
            <a:ext cx="9001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Month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66212" y="5627189"/>
            <a:ext cx="299275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IoT Rollout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66212" y="6051052"/>
            <a:ext cx="24230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Integrate mobile automated payments.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03702" y="5122364"/>
            <a:ext cx="91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Month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03677" y="5627189"/>
            <a:ext cx="299275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Commercial Scale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03677" y="6051052"/>
            <a:ext cx="24230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Reach 100 active business subscribers.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41176" y="5122364"/>
            <a:ext cx="91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Month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41151" y="5627189"/>
            <a:ext cx="299275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Partnerships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41151" y="6051052"/>
            <a:ext cx="24230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Secure telco distribution agreement.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78641" y="5122364"/>
            <a:ext cx="91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Month 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78616" y="5627189"/>
            <a:ext cx="299275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Regional Expansion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78616" y="6051052"/>
            <a:ext cx="24230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Enter secondary geographic territory.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274639"/>
            <a:ext cx="5195964" cy="3043238"/>
            <a:chOff x="0" y="0"/>
            <a:chExt cx="6927952" cy="405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7977" cy="4057650"/>
            </a:xfrm>
            <a:custGeom>
              <a:avLst/>
              <a:gdLst/>
              <a:ahLst/>
              <a:cxnLst/>
              <a:rect r="r" b="b" t="t" l="l"/>
              <a:pathLst>
                <a:path h="4057650" w="6927977">
                  <a:moveTo>
                    <a:pt x="0" y="306197"/>
                  </a:moveTo>
                  <a:cubicBezTo>
                    <a:pt x="0" y="137160"/>
                    <a:pt x="137160" y="0"/>
                    <a:pt x="306197" y="0"/>
                  </a:cubicBezTo>
                  <a:lnTo>
                    <a:pt x="6621780" y="0"/>
                  </a:lnTo>
                  <a:cubicBezTo>
                    <a:pt x="6790944" y="0"/>
                    <a:pt x="6927977" y="137160"/>
                    <a:pt x="6927977" y="306197"/>
                  </a:cubicBezTo>
                  <a:lnTo>
                    <a:pt x="6927977" y="3751453"/>
                  </a:lnTo>
                  <a:cubicBezTo>
                    <a:pt x="6927977" y="3920617"/>
                    <a:pt x="6790817" y="4057650"/>
                    <a:pt x="6621780" y="4057650"/>
                  </a:cubicBezTo>
                  <a:lnTo>
                    <a:pt x="306197" y="4057650"/>
                  </a:lnTo>
                  <a:cubicBezTo>
                    <a:pt x="137160" y="4057650"/>
                    <a:pt x="0" y="3920490"/>
                    <a:pt x="0" y="375145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46132" y="4274639"/>
            <a:ext cx="5195964" cy="3043238"/>
            <a:chOff x="0" y="0"/>
            <a:chExt cx="6927952" cy="4057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7977" cy="4057650"/>
            </a:xfrm>
            <a:custGeom>
              <a:avLst/>
              <a:gdLst/>
              <a:ahLst/>
              <a:cxnLst/>
              <a:rect r="r" b="b" t="t" l="l"/>
              <a:pathLst>
                <a:path h="4057650" w="6927977">
                  <a:moveTo>
                    <a:pt x="0" y="306197"/>
                  </a:moveTo>
                  <a:cubicBezTo>
                    <a:pt x="0" y="137160"/>
                    <a:pt x="137160" y="0"/>
                    <a:pt x="306197" y="0"/>
                  </a:cubicBezTo>
                  <a:lnTo>
                    <a:pt x="6621780" y="0"/>
                  </a:lnTo>
                  <a:cubicBezTo>
                    <a:pt x="6790944" y="0"/>
                    <a:pt x="6927977" y="137160"/>
                    <a:pt x="6927977" y="306197"/>
                  </a:cubicBezTo>
                  <a:lnTo>
                    <a:pt x="6927977" y="3751453"/>
                  </a:lnTo>
                  <a:cubicBezTo>
                    <a:pt x="6927977" y="3920617"/>
                    <a:pt x="6790817" y="4057650"/>
                    <a:pt x="6621780" y="4057650"/>
                  </a:cubicBezTo>
                  <a:lnTo>
                    <a:pt x="306197" y="4057650"/>
                  </a:lnTo>
                  <a:cubicBezTo>
                    <a:pt x="137160" y="4057650"/>
                    <a:pt x="0" y="3920490"/>
                    <a:pt x="0" y="375145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85009" y="4274639"/>
            <a:ext cx="5195964" cy="3043238"/>
            <a:chOff x="0" y="0"/>
            <a:chExt cx="6927952" cy="4057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7977" cy="4057650"/>
            </a:xfrm>
            <a:custGeom>
              <a:avLst/>
              <a:gdLst/>
              <a:ahLst/>
              <a:cxnLst/>
              <a:rect r="r" b="b" t="t" l="l"/>
              <a:pathLst>
                <a:path h="4057650" w="6927977">
                  <a:moveTo>
                    <a:pt x="0" y="306197"/>
                  </a:moveTo>
                  <a:cubicBezTo>
                    <a:pt x="0" y="137160"/>
                    <a:pt x="137160" y="0"/>
                    <a:pt x="306197" y="0"/>
                  </a:cubicBezTo>
                  <a:lnTo>
                    <a:pt x="6621780" y="0"/>
                  </a:lnTo>
                  <a:cubicBezTo>
                    <a:pt x="6790944" y="0"/>
                    <a:pt x="6927977" y="137160"/>
                    <a:pt x="6927977" y="306197"/>
                  </a:cubicBezTo>
                  <a:lnTo>
                    <a:pt x="6927977" y="3751453"/>
                  </a:lnTo>
                  <a:cubicBezTo>
                    <a:pt x="6927977" y="3920617"/>
                    <a:pt x="6790817" y="4057650"/>
                    <a:pt x="6621780" y="4057650"/>
                  </a:cubicBezTo>
                  <a:lnTo>
                    <a:pt x="306197" y="4057650"/>
                  </a:lnTo>
                  <a:cubicBezTo>
                    <a:pt x="137160" y="4057650"/>
                    <a:pt x="0" y="3920490"/>
                    <a:pt x="0" y="375145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247949" y="4867570"/>
            <a:ext cx="514350" cy="514350"/>
            <a:chOff x="0" y="0"/>
            <a:chExt cx="685800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86825" y="4867570"/>
            <a:ext cx="514350" cy="514350"/>
            <a:chOff x="0" y="0"/>
            <a:chExt cx="685800" cy="6858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589995" y="4867570"/>
            <a:ext cx="385762" cy="514350"/>
            <a:chOff x="0" y="0"/>
            <a:chExt cx="514350" cy="685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1435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0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07 / BUSINESS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Predictable Revenue &amp; High Margins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3604" y="5600995"/>
            <a:ext cx="526325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SaaS Subscription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925" y="6162970"/>
            <a:ext cx="501262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Recurring monthly power access fee tiered by peak usage.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12481" y="5600995"/>
            <a:ext cx="526325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65% Gross Margins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37801" y="6162970"/>
            <a:ext cx="501262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Strong unit economics powered by low hardware deployment costs.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51357" y="5600995"/>
            <a:ext cx="526325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Surplus Energy Sales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76677" y="6162970"/>
            <a:ext cx="501262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Monetizing excess generation back to regional grid operators.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367508"/>
            <a:ext cx="5195964" cy="2857500"/>
            <a:chOff x="0" y="0"/>
            <a:chExt cx="6927952" cy="381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7977" cy="3810000"/>
            </a:xfrm>
            <a:custGeom>
              <a:avLst/>
              <a:gdLst/>
              <a:ahLst/>
              <a:cxnLst/>
              <a:rect r="r" b="b" t="t" l="l"/>
              <a:pathLst>
                <a:path h="3810000" w="6927977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6621653" y="0"/>
                  </a:lnTo>
                  <a:cubicBezTo>
                    <a:pt x="6790817" y="0"/>
                    <a:pt x="6927977" y="137160"/>
                    <a:pt x="6927977" y="306324"/>
                  </a:cubicBezTo>
                  <a:lnTo>
                    <a:pt x="6927977" y="3503676"/>
                  </a:lnTo>
                  <a:cubicBezTo>
                    <a:pt x="6927977" y="3672840"/>
                    <a:pt x="6790817" y="3810000"/>
                    <a:pt x="6621653" y="3810000"/>
                  </a:cubicBezTo>
                  <a:lnTo>
                    <a:pt x="306324" y="3810000"/>
                  </a:lnTo>
                  <a:cubicBezTo>
                    <a:pt x="137160" y="3810000"/>
                    <a:pt x="0" y="3672840"/>
                    <a:pt x="0" y="350367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46132" y="4367508"/>
            <a:ext cx="5195964" cy="2857500"/>
            <a:chOff x="0" y="0"/>
            <a:chExt cx="6927952" cy="381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7977" cy="3810000"/>
            </a:xfrm>
            <a:custGeom>
              <a:avLst/>
              <a:gdLst/>
              <a:ahLst/>
              <a:cxnLst/>
              <a:rect r="r" b="b" t="t" l="l"/>
              <a:pathLst>
                <a:path h="3810000" w="6927977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6621653" y="0"/>
                  </a:lnTo>
                  <a:cubicBezTo>
                    <a:pt x="6790817" y="0"/>
                    <a:pt x="6927977" y="137160"/>
                    <a:pt x="6927977" y="306324"/>
                  </a:cubicBezTo>
                  <a:lnTo>
                    <a:pt x="6927977" y="3503676"/>
                  </a:lnTo>
                  <a:cubicBezTo>
                    <a:pt x="6927977" y="3672840"/>
                    <a:pt x="6790817" y="3810000"/>
                    <a:pt x="6621653" y="3810000"/>
                  </a:cubicBezTo>
                  <a:lnTo>
                    <a:pt x="306324" y="3810000"/>
                  </a:lnTo>
                  <a:cubicBezTo>
                    <a:pt x="137160" y="3810000"/>
                    <a:pt x="0" y="3672840"/>
                    <a:pt x="0" y="350367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85009" y="4367508"/>
            <a:ext cx="5195964" cy="2857500"/>
            <a:chOff x="0" y="0"/>
            <a:chExt cx="6927952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7977" cy="3810000"/>
            </a:xfrm>
            <a:custGeom>
              <a:avLst/>
              <a:gdLst/>
              <a:ahLst/>
              <a:cxnLst/>
              <a:rect r="r" b="b" t="t" l="l"/>
              <a:pathLst>
                <a:path h="3810000" w="6927977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6621653" y="0"/>
                  </a:lnTo>
                  <a:cubicBezTo>
                    <a:pt x="6790817" y="0"/>
                    <a:pt x="6927977" y="137160"/>
                    <a:pt x="6927977" y="306324"/>
                  </a:cubicBezTo>
                  <a:lnTo>
                    <a:pt x="6927977" y="3503676"/>
                  </a:lnTo>
                  <a:cubicBezTo>
                    <a:pt x="6927977" y="3672840"/>
                    <a:pt x="6790817" y="3810000"/>
                    <a:pt x="6621653" y="3810000"/>
                  </a:cubicBezTo>
                  <a:lnTo>
                    <a:pt x="306324" y="3810000"/>
                  </a:lnTo>
                  <a:cubicBezTo>
                    <a:pt x="137160" y="3810000"/>
                    <a:pt x="0" y="3672840"/>
                    <a:pt x="0" y="350367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08 / GO-TO-MARKET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Multi-Channel Customer Acquisition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888" y="4827089"/>
            <a:ext cx="52983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5888" y="5427164"/>
            <a:ext cx="556329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Trade Association Alliances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888" y="5912939"/>
            <a:ext cx="4381576" cy="83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Partnering directly with local market unions for instant trust and mass SME onboarding.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4764" y="4827089"/>
            <a:ext cx="52983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4764" y="5427164"/>
            <a:ext cx="556329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Direct Field Sales Force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24764" y="5912939"/>
            <a:ext cx="4381576" cy="83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Commission-based agents targeting commercial corridors with high generator usage.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3640" y="4827089"/>
            <a:ext cx="52983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63640" y="5427164"/>
            <a:ext cx="556329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Telco Co-Marketing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63640" y="5912939"/>
            <a:ext cx="4381576" cy="83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Bundling energy subscriptions with mobile internet packages for business users.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038895"/>
            <a:ext cx="8072438" cy="1771650"/>
            <a:chOff x="0" y="0"/>
            <a:chExt cx="10763250" cy="236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325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0763250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10456037" y="0"/>
                  </a:lnTo>
                  <a:cubicBezTo>
                    <a:pt x="10625709" y="0"/>
                    <a:pt x="10763250" y="137541"/>
                    <a:pt x="10763250" y="307213"/>
                  </a:cubicBezTo>
                  <a:lnTo>
                    <a:pt x="10763250" y="2054987"/>
                  </a:lnTo>
                  <a:cubicBezTo>
                    <a:pt x="10763250" y="2224659"/>
                    <a:pt x="10625709" y="2362200"/>
                    <a:pt x="10456037" y="2362200"/>
                  </a:cubicBezTo>
                  <a:lnTo>
                    <a:pt x="307213" y="2362200"/>
                  </a:lnTo>
                  <a:cubicBezTo>
                    <a:pt x="137541" y="2362200"/>
                    <a:pt x="0" y="2224659"/>
                    <a:pt x="0" y="205498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08306" y="4038895"/>
            <a:ext cx="8072438" cy="1771650"/>
            <a:chOff x="0" y="0"/>
            <a:chExt cx="10763250" cy="236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6325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0763250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10456037" y="0"/>
                  </a:lnTo>
                  <a:cubicBezTo>
                    <a:pt x="10625709" y="0"/>
                    <a:pt x="10763250" y="137541"/>
                    <a:pt x="10763250" y="307213"/>
                  </a:cubicBezTo>
                  <a:lnTo>
                    <a:pt x="10763250" y="2054987"/>
                  </a:lnTo>
                  <a:cubicBezTo>
                    <a:pt x="10763250" y="2224659"/>
                    <a:pt x="10625709" y="2362200"/>
                    <a:pt x="10456037" y="2362200"/>
                  </a:cubicBezTo>
                  <a:lnTo>
                    <a:pt x="307213" y="2362200"/>
                  </a:lnTo>
                  <a:cubicBezTo>
                    <a:pt x="137541" y="2362200"/>
                    <a:pt x="0" y="2224659"/>
                    <a:pt x="0" y="205498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6139158"/>
            <a:ext cx="8072438" cy="1643062"/>
            <a:chOff x="0" y="0"/>
            <a:chExt cx="10763250" cy="2190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32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10763250">
                  <a:moveTo>
                    <a:pt x="0" y="307467"/>
                  </a:moveTo>
                  <a:cubicBezTo>
                    <a:pt x="0" y="137668"/>
                    <a:pt x="137668" y="0"/>
                    <a:pt x="307467" y="0"/>
                  </a:cubicBezTo>
                  <a:lnTo>
                    <a:pt x="10455783" y="0"/>
                  </a:lnTo>
                  <a:cubicBezTo>
                    <a:pt x="10625582" y="0"/>
                    <a:pt x="10763250" y="137668"/>
                    <a:pt x="10763250" y="307467"/>
                  </a:cubicBezTo>
                  <a:lnTo>
                    <a:pt x="10763250" y="1883283"/>
                  </a:lnTo>
                  <a:cubicBezTo>
                    <a:pt x="10763250" y="2053082"/>
                    <a:pt x="10625582" y="2190750"/>
                    <a:pt x="10455783" y="2190750"/>
                  </a:cubicBezTo>
                  <a:lnTo>
                    <a:pt x="307467" y="2190750"/>
                  </a:lnTo>
                  <a:cubicBezTo>
                    <a:pt x="137668" y="2190750"/>
                    <a:pt x="0" y="2053082"/>
                    <a:pt x="0" y="18832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08306" y="6139158"/>
            <a:ext cx="8072438" cy="1643062"/>
            <a:chOff x="0" y="0"/>
            <a:chExt cx="10763250" cy="2190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32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10763250">
                  <a:moveTo>
                    <a:pt x="0" y="307467"/>
                  </a:moveTo>
                  <a:cubicBezTo>
                    <a:pt x="0" y="137668"/>
                    <a:pt x="137668" y="0"/>
                    <a:pt x="307467" y="0"/>
                  </a:cubicBezTo>
                  <a:lnTo>
                    <a:pt x="10455783" y="0"/>
                  </a:lnTo>
                  <a:cubicBezTo>
                    <a:pt x="10625582" y="0"/>
                    <a:pt x="10763250" y="137668"/>
                    <a:pt x="10763250" y="307467"/>
                  </a:cubicBezTo>
                  <a:lnTo>
                    <a:pt x="10763250" y="1883283"/>
                  </a:lnTo>
                  <a:cubicBezTo>
                    <a:pt x="10763250" y="2053082"/>
                    <a:pt x="10625582" y="2190750"/>
                    <a:pt x="10455783" y="2190750"/>
                  </a:cubicBezTo>
                  <a:lnTo>
                    <a:pt x="307467" y="2190750"/>
                  </a:lnTo>
                  <a:cubicBezTo>
                    <a:pt x="137668" y="2190750"/>
                    <a:pt x="0" y="2053082"/>
                    <a:pt x="0" y="18832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28738" y="4460377"/>
            <a:ext cx="800100" cy="800100"/>
            <a:chOff x="0" y="0"/>
            <a:chExt cx="1066800" cy="106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838200" y="0"/>
                  </a:lnTo>
                  <a:cubicBezTo>
                    <a:pt x="964438" y="0"/>
                    <a:pt x="1066800" y="102362"/>
                    <a:pt x="1066800" y="228600"/>
                  </a:cubicBezTo>
                  <a:lnTo>
                    <a:pt x="1066800" y="838200"/>
                  </a:lnTo>
                  <a:cubicBezTo>
                    <a:pt x="1066800" y="964438"/>
                    <a:pt x="964438" y="1066800"/>
                    <a:pt x="838200" y="1066800"/>
                  </a:cubicBezTo>
                  <a:lnTo>
                    <a:pt x="228600" y="1066800"/>
                  </a:lnTo>
                  <a:cubicBezTo>
                    <a:pt x="102362" y="1066800"/>
                    <a:pt x="0" y="964438"/>
                    <a:pt x="0" y="8382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29788" y="4460377"/>
            <a:ext cx="800100" cy="800100"/>
            <a:chOff x="0" y="0"/>
            <a:chExt cx="1066800" cy="106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838200" y="0"/>
                  </a:lnTo>
                  <a:cubicBezTo>
                    <a:pt x="964438" y="0"/>
                    <a:pt x="1066800" y="102362"/>
                    <a:pt x="1066800" y="228600"/>
                  </a:cubicBezTo>
                  <a:lnTo>
                    <a:pt x="1066800" y="838200"/>
                  </a:lnTo>
                  <a:cubicBezTo>
                    <a:pt x="1066800" y="964438"/>
                    <a:pt x="964438" y="1066800"/>
                    <a:pt x="838200" y="1066800"/>
                  </a:cubicBezTo>
                  <a:lnTo>
                    <a:pt x="228600" y="1066800"/>
                  </a:lnTo>
                  <a:cubicBezTo>
                    <a:pt x="102362" y="1066800"/>
                    <a:pt x="0" y="964438"/>
                    <a:pt x="0" y="838200"/>
                  </a:cubicBez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8738" y="6560639"/>
            <a:ext cx="800100" cy="800100"/>
            <a:chOff x="0" y="0"/>
            <a:chExt cx="1066800" cy="106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838200" y="0"/>
                  </a:lnTo>
                  <a:cubicBezTo>
                    <a:pt x="964438" y="0"/>
                    <a:pt x="1066800" y="102362"/>
                    <a:pt x="1066800" y="228600"/>
                  </a:cubicBezTo>
                  <a:lnTo>
                    <a:pt x="1066800" y="838200"/>
                  </a:lnTo>
                  <a:cubicBezTo>
                    <a:pt x="1066800" y="964438"/>
                    <a:pt x="964438" y="1066800"/>
                    <a:pt x="838200" y="1066800"/>
                  </a:cubicBezTo>
                  <a:lnTo>
                    <a:pt x="228600" y="1066800"/>
                  </a:lnTo>
                  <a:cubicBezTo>
                    <a:pt x="102362" y="1066800"/>
                    <a:pt x="0" y="964438"/>
                    <a:pt x="0" y="8382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729788" y="6560639"/>
            <a:ext cx="800100" cy="800100"/>
            <a:chOff x="0" y="0"/>
            <a:chExt cx="1066800" cy="1066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838200" y="0"/>
                  </a:lnTo>
                  <a:cubicBezTo>
                    <a:pt x="964438" y="0"/>
                    <a:pt x="1066800" y="102362"/>
                    <a:pt x="1066800" y="228600"/>
                  </a:cubicBezTo>
                  <a:lnTo>
                    <a:pt x="1066800" y="838200"/>
                  </a:lnTo>
                  <a:cubicBezTo>
                    <a:pt x="1066800" y="964438"/>
                    <a:pt x="964438" y="1066800"/>
                    <a:pt x="838200" y="1066800"/>
                  </a:cubicBezTo>
                  <a:lnTo>
                    <a:pt x="228600" y="1066800"/>
                  </a:lnTo>
                  <a:cubicBezTo>
                    <a:pt x="102362" y="1066800"/>
                    <a:pt x="0" y="964438"/>
                    <a:pt x="0" y="83820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09 / SUSTAINABILITY &amp; IMPACT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Aligned with UN Sustainable Development Goals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4425" y="4460377"/>
            <a:ext cx="1228725" cy="800100"/>
            <a:chOff x="0" y="0"/>
            <a:chExt cx="1638300" cy="1066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3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6383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5475" y="4460377"/>
            <a:ext cx="1228725" cy="800100"/>
            <a:chOff x="0" y="0"/>
            <a:chExt cx="1638300" cy="1066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3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6383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4425" y="6560639"/>
            <a:ext cx="1228725" cy="800100"/>
            <a:chOff x="0" y="0"/>
            <a:chExt cx="1638300" cy="1066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3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6383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15475" y="6560639"/>
            <a:ext cx="1228725" cy="800100"/>
            <a:chOff x="0" y="0"/>
            <a:chExt cx="1638300" cy="1066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3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6383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414588" y="4450852"/>
            <a:ext cx="804475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Affordable &amp; Clean Energy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14588" y="4865189"/>
            <a:ext cx="76616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Expanding solar access to underserved commercial communities.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5638" y="4450852"/>
            <a:ext cx="747236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Decent Work &amp; Economic Growth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15638" y="4865189"/>
            <a:ext cx="6286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Increasing small business profitability by removing energy grid bottlenecks.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14588" y="6551114"/>
            <a:ext cx="720090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Industry &amp; Infrastructure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14588" y="6965452"/>
            <a:ext cx="6858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Building resilient decentralized clean energy infrastructure.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15638" y="6551114"/>
            <a:ext cx="747236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Climate Action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15638" y="6965452"/>
            <a:ext cx="734020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Displacing dirty diesel generators and reducing CO2 emissions.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167483"/>
            <a:ext cx="3871912" cy="3486150"/>
            <a:chOff x="0" y="0"/>
            <a:chExt cx="5162550" cy="464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255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1625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4856480" y="0"/>
                  </a:lnTo>
                  <a:cubicBezTo>
                    <a:pt x="5025517" y="0"/>
                    <a:pt x="5162550" y="137033"/>
                    <a:pt x="5162550" y="306070"/>
                  </a:cubicBezTo>
                  <a:lnTo>
                    <a:pt x="5162550" y="4342130"/>
                  </a:lnTo>
                  <a:cubicBezTo>
                    <a:pt x="5162550" y="4511167"/>
                    <a:pt x="5025517" y="4648200"/>
                    <a:pt x="4856480" y="4648200"/>
                  </a:cubicBezTo>
                  <a:lnTo>
                    <a:pt x="306070" y="4648200"/>
                  </a:lnTo>
                  <a:cubicBezTo>
                    <a:pt x="137033" y="4648200"/>
                    <a:pt x="0" y="4511167"/>
                    <a:pt x="0" y="43421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107781" y="4167483"/>
            <a:ext cx="3871912" cy="3486150"/>
            <a:chOff x="0" y="0"/>
            <a:chExt cx="5162550" cy="464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6255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1625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4856480" y="0"/>
                  </a:lnTo>
                  <a:cubicBezTo>
                    <a:pt x="5025517" y="0"/>
                    <a:pt x="5162550" y="137033"/>
                    <a:pt x="5162550" y="306070"/>
                  </a:cubicBezTo>
                  <a:lnTo>
                    <a:pt x="5162550" y="4342130"/>
                  </a:lnTo>
                  <a:cubicBezTo>
                    <a:pt x="5162550" y="4511167"/>
                    <a:pt x="5025517" y="4648200"/>
                    <a:pt x="4856480" y="4648200"/>
                  </a:cubicBezTo>
                  <a:lnTo>
                    <a:pt x="306070" y="4648200"/>
                  </a:lnTo>
                  <a:cubicBezTo>
                    <a:pt x="137033" y="4648200"/>
                    <a:pt x="0" y="4511167"/>
                    <a:pt x="0" y="43421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08306" y="4167483"/>
            <a:ext cx="3871912" cy="3486150"/>
            <a:chOff x="0" y="0"/>
            <a:chExt cx="5162550" cy="464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6255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1625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4856480" y="0"/>
                  </a:lnTo>
                  <a:cubicBezTo>
                    <a:pt x="5025517" y="0"/>
                    <a:pt x="5162550" y="137033"/>
                    <a:pt x="5162550" y="306070"/>
                  </a:cubicBezTo>
                  <a:lnTo>
                    <a:pt x="5162550" y="4342130"/>
                  </a:lnTo>
                  <a:cubicBezTo>
                    <a:pt x="5162550" y="4511167"/>
                    <a:pt x="5025517" y="4648200"/>
                    <a:pt x="4856480" y="4648200"/>
                  </a:cubicBezTo>
                  <a:lnTo>
                    <a:pt x="306070" y="4648200"/>
                  </a:lnTo>
                  <a:cubicBezTo>
                    <a:pt x="137033" y="4648200"/>
                    <a:pt x="0" y="4511167"/>
                    <a:pt x="0" y="43421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508831" y="4167483"/>
            <a:ext cx="3871912" cy="3486150"/>
            <a:chOff x="0" y="0"/>
            <a:chExt cx="5162550" cy="4648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255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162550">
                  <a:moveTo>
                    <a:pt x="0" y="306070"/>
                  </a:moveTo>
                  <a:cubicBezTo>
                    <a:pt x="0" y="137033"/>
                    <a:pt x="137033" y="0"/>
                    <a:pt x="306070" y="0"/>
                  </a:cubicBezTo>
                  <a:lnTo>
                    <a:pt x="4856480" y="0"/>
                  </a:lnTo>
                  <a:cubicBezTo>
                    <a:pt x="5025517" y="0"/>
                    <a:pt x="5162550" y="137033"/>
                    <a:pt x="5162550" y="306070"/>
                  </a:cubicBezTo>
                  <a:lnTo>
                    <a:pt x="5162550" y="4342130"/>
                  </a:lnTo>
                  <a:cubicBezTo>
                    <a:pt x="5162550" y="4511167"/>
                    <a:pt x="5025517" y="4648200"/>
                    <a:pt x="4856480" y="4648200"/>
                  </a:cubicBezTo>
                  <a:lnTo>
                    <a:pt x="306070" y="4648200"/>
                  </a:lnTo>
                  <a:cubicBezTo>
                    <a:pt x="137033" y="4648200"/>
                    <a:pt x="0" y="4511167"/>
                    <a:pt x="0" y="43421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1712" y="4646114"/>
            <a:ext cx="1143000" cy="1143000"/>
            <a:chOff x="0" y="0"/>
            <a:chExt cx="1524000" cy="1524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72238" y="4646114"/>
            <a:ext cx="1143000" cy="1143000"/>
            <a:chOff x="0" y="0"/>
            <a:chExt cx="1524000" cy="1524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72762" y="4646114"/>
            <a:ext cx="1143000" cy="1143000"/>
            <a:chOff x="0" y="0"/>
            <a:chExt cx="1524000" cy="1524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873288" y="4646114"/>
            <a:ext cx="1143000" cy="1143000"/>
            <a:chOff x="0" y="0"/>
            <a:chExt cx="1524000" cy="1524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643188" y="4989014"/>
            <a:ext cx="400050" cy="457200"/>
            <a:chOff x="0" y="0"/>
            <a:chExt cx="533400" cy="6096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3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43712" y="4989014"/>
            <a:ext cx="400050" cy="457200"/>
            <a:chOff x="0" y="0"/>
            <a:chExt cx="533400" cy="6096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33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044238" y="4989014"/>
            <a:ext cx="400050" cy="457200"/>
            <a:chOff x="0" y="0"/>
            <a:chExt cx="533400" cy="6096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33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244762" y="4989014"/>
            <a:ext cx="400050" cy="457200"/>
            <a:chOff x="0" y="0"/>
            <a:chExt cx="533400" cy="6096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33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4400" y="781050"/>
            <a:ext cx="173736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10 / LEADERSHIP TEAM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1338263"/>
            <a:ext cx="173736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Experienced Founders &amp; Operators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5441" y="6008189"/>
            <a:ext cx="42755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Alex Morgan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7244" y="6336802"/>
            <a:ext cx="40719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575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Chief Executive Officer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7244" y="6708277"/>
            <a:ext cx="40719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Ex-Tesla, 8+ years scaling energy projects across Africa.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05966" y="6008189"/>
            <a:ext cx="42755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Sarah Chen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07769" y="6336802"/>
            <a:ext cx="40719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575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Chief Technology Officer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07769" y="6708277"/>
            <a:ext cx="40719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M.Sc. MIT, specialized in microgrid IoT software design.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06491" y="6008189"/>
            <a:ext cx="42755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David Osei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08294" y="6336802"/>
            <a:ext cx="40719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575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Head of Operations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08294" y="6708277"/>
            <a:ext cx="40719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10+ years in commercial hardware distribution.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07016" y="6008189"/>
            <a:ext cx="427553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Elena Rostova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08819" y="6336802"/>
            <a:ext cx="40719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575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VP of Finance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08819" y="6708277"/>
            <a:ext cx="40719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Former Fintech Investment Lead with $50M+ deployed.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07126" y="0"/>
            <a:ext cx="7680874" cy="10287000"/>
            <a:chOff x="0" y="0"/>
            <a:chExt cx="1024116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115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241153">
                  <a:moveTo>
                    <a:pt x="0" y="0"/>
                  </a:moveTo>
                  <a:lnTo>
                    <a:pt x="10241153" y="0"/>
                  </a:lnTo>
                  <a:lnTo>
                    <a:pt x="1024115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153195"/>
            <a:ext cx="2773785" cy="1571625"/>
            <a:chOff x="0" y="0"/>
            <a:chExt cx="3698380" cy="2095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98367" cy="2095500"/>
            </a:xfrm>
            <a:custGeom>
              <a:avLst/>
              <a:gdLst/>
              <a:ahLst/>
              <a:cxnLst/>
              <a:rect r="r" b="b" t="t" l="l"/>
              <a:pathLst>
                <a:path h="2095500" w="36983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469767" y="0"/>
                  </a:lnTo>
                  <a:cubicBezTo>
                    <a:pt x="3596005" y="0"/>
                    <a:pt x="3698367" y="102362"/>
                    <a:pt x="3698367" y="228600"/>
                  </a:cubicBezTo>
                  <a:lnTo>
                    <a:pt x="3698367" y="1866900"/>
                  </a:lnTo>
                  <a:cubicBezTo>
                    <a:pt x="3698367" y="1993138"/>
                    <a:pt x="3596005" y="2095500"/>
                    <a:pt x="3469767" y="2095500"/>
                  </a:cubicBezTo>
                  <a:lnTo>
                    <a:pt x="228600" y="2095500"/>
                  </a:lnTo>
                  <a:cubicBezTo>
                    <a:pt x="102362" y="2095500"/>
                    <a:pt x="0" y="1993138"/>
                    <a:pt x="0" y="18669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16785" y="4153195"/>
            <a:ext cx="2773785" cy="1571625"/>
            <a:chOff x="0" y="0"/>
            <a:chExt cx="3698380" cy="2095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98367" cy="2095500"/>
            </a:xfrm>
            <a:custGeom>
              <a:avLst/>
              <a:gdLst/>
              <a:ahLst/>
              <a:cxnLst/>
              <a:rect r="r" b="b" t="t" l="l"/>
              <a:pathLst>
                <a:path h="2095500" w="36983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469767" y="0"/>
                  </a:lnTo>
                  <a:cubicBezTo>
                    <a:pt x="3596005" y="0"/>
                    <a:pt x="3698367" y="102362"/>
                    <a:pt x="3698367" y="228600"/>
                  </a:cubicBezTo>
                  <a:lnTo>
                    <a:pt x="3698367" y="1866900"/>
                  </a:lnTo>
                  <a:cubicBezTo>
                    <a:pt x="3698367" y="1993138"/>
                    <a:pt x="3596005" y="2095500"/>
                    <a:pt x="3469767" y="2095500"/>
                  </a:cubicBezTo>
                  <a:lnTo>
                    <a:pt x="228600" y="2095500"/>
                  </a:lnTo>
                  <a:cubicBezTo>
                    <a:pt x="102362" y="2095500"/>
                    <a:pt x="0" y="1993138"/>
                    <a:pt x="0" y="18669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19170" y="4153195"/>
            <a:ext cx="2773785" cy="1571625"/>
            <a:chOff x="0" y="0"/>
            <a:chExt cx="3698380" cy="209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98367" cy="2095500"/>
            </a:xfrm>
            <a:custGeom>
              <a:avLst/>
              <a:gdLst/>
              <a:ahLst/>
              <a:cxnLst/>
              <a:rect r="r" b="b" t="t" l="l"/>
              <a:pathLst>
                <a:path h="2095500" w="36983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469767" y="0"/>
                  </a:lnTo>
                  <a:cubicBezTo>
                    <a:pt x="3596005" y="0"/>
                    <a:pt x="3698367" y="102362"/>
                    <a:pt x="3698367" y="228600"/>
                  </a:cubicBezTo>
                  <a:lnTo>
                    <a:pt x="3698367" y="1866900"/>
                  </a:lnTo>
                  <a:cubicBezTo>
                    <a:pt x="3698367" y="1993138"/>
                    <a:pt x="3596005" y="2095500"/>
                    <a:pt x="3469767" y="2095500"/>
                  </a:cubicBezTo>
                  <a:lnTo>
                    <a:pt x="228600" y="2095500"/>
                  </a:lnTo>
                  <a:cubicBezTo>
                    <a:pt x="102362" y="2095500"/>
                    <a:pt x="0" y="1993138"/>
                    <a:pt x="0" y="18669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182020"/>
            <a:ext cx="8778326" cy="14288"/>
            <a:chOff x="0" y="0"/>
            <a:chExt cx="11704434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447" cy="19050"/>
            </a:xfrm>
            <a:custGeom>
              <a:avLst/>
              <a:gdLst/>
              <a:ahLst/>
              <a:cxnLst/>
              <a:rect r="r" b="b" t="t" l="l"/>
              <a:pathLst>
                <a:path h="19050" w="11704447">
                  <a:moveTo>
                    <a:pt x="0" y="0"/>
                  </a:moveTo>
                  <a:lnTo>
                    <a:pt x="11704447" y="0"/>
                  </a:lnTo>
                  <a:lnTo>
                    <a:pt x="1170444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082133"/>
            <a:ext cx="214312" cy="214312"/>
            <a:chOff x="0" y="0"/>
            <a:chExt cx="285750" cy="2857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66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74602" y="7082133"/>
            <a:ext cx="214312" cy="214312"/>
            <a:chOff x="0" y="0"/>
            <a:chExt cx="285750" cy="2857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93503" y="7082133"/>
            <a:ext cx="185738" cy="214312"/>
            <a:chOff x="0" y="0"/>
            <a:chExt cx="247650" cy="2857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64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2685526"/>
            <a:ext cx="10972914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11 / INVESTMENT ASK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090339"/>
            <a:ext cx="11521554" cy="77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2"/>
              </a:lnSpc>
            </a:pPr>
            <a:r>
              <a:rPr lang="en-US" b="true" sz="49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Raising $1.5M Seed Round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66013" y="4236244"/>
            <a:ext cx="4763091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68661" y="5355431"/>
            <a:ext cx="535781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E0F2FE"/>
                </a:solidFill>
                <a:latin typeface="Arimo"/>
                <a:ea typeface="Arimo"/>
                <a:cs typeface="Arimo"/>
                <a:sym typeface="Arimo"/>
              </a:rPr>
              <a:t>Join us in powering the future of emerging enterprise.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6529683"/>
            <a:ext cx="1097291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Contact 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0150" y="4419895"/>
            <a:ext cx="27528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60%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0150" y="4915195"/>
            <a:ext cx="234516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Hardware &amp; Grid Deployment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02535" y="4419895"/>
            <a:ext cx="27528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25%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02535" y="4915195"/>
            <a:ext cx="275285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Tech R&amp;D &amp; Software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04920" y="4419895"/>
            <a:ext cx="27528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15%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04920" y="4915195"/>
            <a:ext cx="275285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Sales &amp; Expansion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7275" y="7020220"/>
            <a:ext cx="260300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alex@ecoflowtech.com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17477" y="7020220"/>
            <a:ext cx="25617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www.ecoflowtech.com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17328" y="7020220"/>
            <a:ext cx="271849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/company/ecoflow-tech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1734369"/>
            <a:ext cx="1285875" cy="714375"/>
            <a:chOff x="0" y="0"/>
            <a:chExt cx="1714500" cy="952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714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00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52475"/>
            <a:ext cx="421928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36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Image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0312" y="1781994"/>
            <a:ext cx="1280517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https://www.techinafrica.com/wp-content/uploads/2025/08/image_af081d73f33a3de1a45b86258705443b.png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312" y="2072507"/>
            <a:ext cx="421481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www.techinafrica.com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DAHY3E9s1Gs</dc:identifier>
  <dcterms:modified xsi:type="dcterms:W3CDTF">2011-08-01T06:04:30Z</dcterms:modified>
  <cp:revision>1</cp:revision>
</cp:coreProperties>
</file>